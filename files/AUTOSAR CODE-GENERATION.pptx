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04" r:id="rId14"/>
    <p:sldId id="318" r:id="rId15"/>
    <p:sldId id="319" r:id="rId16"/>
    <p:sldId id="320" r:id="rId17"/>
    <p:sldId id="321" r:id="rId18"/>
    <p:sldId id="322" r:id="rId19"/>
    <p:sldId id="329" r:id="rId20"/>
    <p:sldId id="328" r:id="rId21"/>
    <p:sldId id="327" r:id="rId22"/>
    <p:sldId id="326" r:id="rId23"/>
    <p:sldId id="325" r:id="rId24"/>
    <p:sldId id="335" r:id="rId25"/>
    <p:sldId id="334" r:id="rId26"/>
    <p:sldId id="333" r:id="rId27"/>
    <p:sldId id="332" r:id="rId28"/>
    <p:sldId id="331" r:id="rId29"/>
    <p:sldId id="330" r:id="rId30"/>
    <p:sldId id="324" r:id="rId31"/>
    <p:sldId id="323" r:id="rId32"/>
    <p:sldId id="339" r:id="rId33"/>
    <p:sldId id="338" r:id="rId34"/>
    <p:sldId id="33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9/19/2025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AUTOSAR CODE-GENERATION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3E0CE2-5D54-3A22-1566-9DC5F9B85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77" y="191989"/>
            <a:ext cx="10526024" cy="55893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9BCBC-E625-72F2-C861-7615CE40FA0F}"/>
              </a:ext>
            </a:extLst>
          </p:cNvPr>
          <p:cNvSpPr txBox="1"/>
          <p:nvPr/>
        </p:nvSpPr>
        <p:spPr>
          <a:xfrm>
            <a:off x="4178709" y="6066503"/>
            <a:ext cx="377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Fig1: Open a New Blank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C297073-4109-3962-5222-44ED52940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96" y="188813"/>
            <a:ext cx="10392192" cy="55237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1D2C4A-0879-3811-92C3-8079C4774FCF}"/>
              </a:ext>
            </a:extLst>
          </p:cNvPr>
          <p:cNvSpPr txBox="1"/>
          <p:nvPr/>
        </p:nvSpPr>
        <p:spPr>
          <a:xfrm>
            <a:off x="2015613" y="5958349"/>
            <a:ext cx="8375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Fig2: Connect with the following blocks as shown in the figure along with the configurations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2B25679-7200-94B5-4DE0-2CEDF139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3" y="191989"/>
            <a:ext cx="10314039" cy="5476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7F24FF-04FF-1EC8-2B04-7E59606B0C94}"/>
              </a:ext>
            </a:extLst>
          </p:cNvPr>
          <p:cNvSpPr txBox="1"/>
          <p:nvPr/>
        </p:nvSpPr>
        <p:spPr>
          <a:xfrm>
            <a:off x="4434348" y="5860026"/>
            <a:ext cx="299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Fig3: Select the following blocks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5E1FA3-5DD1-845A-06B1-84959E0AA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195167"/>
            <a:ext cx="10567445" cy="56058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E3A59-1D3E-5EC9-836A-A51CCE5CE7C0}"/>
              </a:ext>
            </a:extLst>
          </p:cNvPr>
          <p:cNvSpPr txBox="1"/>
          <p:nvPr/>
        </p:nvSpPr>
        <p:spPr>
          <a:xfrm>
            <a:off x="3254477" y="5978013"/>
            <a:ext cx="587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Fig4: Press </a:t>
            </a:r>
            <a:r>
              <a:rPr lang="en-US" dirty="0" err="1"/>
              <a:t>Ctrl+G</a:t>
            </a:r>
            <a:r>
              <a:rPr lang="en-US" dirty="0"/>
              <a:t> (Creates the whole system into a subsystem)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1CFA1A-2D2A-82C4-B8A2-6659EEF8B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4" y="188813"/>
            <a:ext cx="10447687" cy="55532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C3BC1F-E5F9-A0AB-4252-BE81005F6A2F}"/>
              </a:ext>
            </a:extLst>
          </p:cNvPr>
          <p:cNvSpPr txBox="1"/>
          <p:nvPr/>
        </p:nvSpPr>
        <p:spPr>
          <a:xfrm>
            <a:off x="4070554" y="5958349"/>
            <a:ext cx="4119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Fig5: Open Model Settings in Modeling Tab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F3729E-FD52-E05E-5981-394A52983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76" y="195166"/>
            <a:ext cx="10474771" cy="55567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9189BF-CBDF-9794-C8FE-4510A848632D}"/>
              </a:ext>
            </a:extLst>
          </p:cNvPr>
          <p:cNvSpPr txBox="1"/>
          <p:nvPr/>
        </p:nvSpPr>
        <p:spPr>
          <a:xfrm>
            <a:off x="4198374" y="5958348"/>
            <a:ext cx="350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Fig6: Select the Code Generation tab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0D095F2-9842-5A80-A7FB-39125E821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6" y="191990"/>
            <a:ext cx="10540181" cy="55968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7DE0BF-76D4-1373-0443-92B763772FA0}"/>
              </a:ext>
            </a:extLst>
          </p:cNvPr>
          <p:cNvSpPr txBox="1"/>
          <p:nvPr/>
        </p:nvSpPr>
        <p:spPr>
          <a:xfrm>
            <a:off x="3323303" y="5938684"/>
            <a:ext cx="5165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Fig7: Browse the System target file and select </a:t>
            </a:r>
            <a:r>
              <a:rPr lang="en-US" dirty="0" err="1"/>
              <a:t>autosar.tlc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E57C457-51D3-76FB-8A4E-190553F8A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42" y="191989"/>
            <a:ext cx="10488991" cy="55697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D1CB5E-8147-D902-27FA-F96DB07E52B1}"/>
              </a:ext>
            </a:extLst>
          </p:cNvPr>
          <p:cNvSpPr txBox="1"/>
          <p:nvPr/>
        </p:nvSpPr>
        <p:spPr>
          <a:xfrm>
            <a:off x="3805084" y="5928852"/>
            <a:ext cx="489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Fig8: Check the Package code and artifacts checkbox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B356E6-FAA9-241C-1B5B-5B00D024B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28" y="198343"/>
            <a:ext cx="10441973" cy="5533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8F80FD-48FA-2BE6-1268-9CAB838AD0B7}"/>
              </a:ext>
            </a:extLst>
          </p:cNvPr>
          <p:cNvSpPr txBox="1"/>
          <p:nvPr/>
        </p:nvSpPr>
        <p:spPr>
          <a:xfrm>
            <a:off x="2989006" y="5909186"/>
            <a:ext cx="6603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Fig9: Navigate to APPS tab and select AUTOSAR Component Designer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34ACE1-141B-5563-65EA-189FF75A5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188813"/>
            <a:ext cx="10355196" cy="550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53A49E-E4EC-9DD2-8A2E-B2469F53918C}"/>
              </a:ext>
            </a:extLst>
          </p:cNvPr>
          <p:cNvSpPr txBox="1"/>
          <p:nvPr/>
        </p:nvSpPr>
        <p:spPr>
          <a:xfrm>
            <a:off x="3451122" y="5968181"/>
            <a:ext cx="4749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Fig10: Select AUTOSAR Classic Platform and Next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473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980BAD-D460-8AB4-44FE-6076EDEA0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8" y="201520"/>
            <a:ext cx="10441858" cy="55283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6C4DCE-E52D-6C59-C6FE-9F429D811856}"/>
              </a:ext>
            </a:extLst>
          </p:cNvPr>
          <p:cNvSpPr txBox="1"/>
          <p:nvPr/>
        </p:nvSpPr>
        <p:spPr>
          <a:xfrm>
            <a:off x="3942736" y="5840362"/>
            <a:ext cx="389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Fig11: Fill the Component name and next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12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0F0732-1E33-7D40-B8EE-C8B69B7F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191989"/>
            <a:ext cx="10412361" cy="55290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D29576-900F-A47C-96FD-EE097A7BF367}"/>
              </a:ext>
            </a:extLst>
          </p:cNvPr>
          <p:cNvSpPr txBox="1"/>
          <p:nvPr/>
        </p:nvSpPr>
        <p:spPr>
          <a:xfrm>
            <a:off x="3175819" y="5948516"/>
            <a:ext cx="627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FIg12: Select Create defaults based on the Simulink model and Next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595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85CE43-59D8-67D0-10CE-07CBCC1FC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1" y="191989"/>
            <a:ext cx="10314040" cy="5476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1AB61D-87D5-A71C-3C70-41D55ACD1107}"/>
              </a:ext>
            </a:extLst>
          </p:cNvPr>
          <p:cNvSpPr txBox="1"/>
          <p:nvPr/>
        </p:nvSpPr>
        <p:spPr>
          <a:xfrm>
            <a:off x="4807974" y="5830529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Fig13: Click Finish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442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BE3A07-452D-9776-436D-598C643AF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204696"/>
            <a:ext cx="10422194" cy="5512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EC23F-0883-863D-DB9B-5E178012341A}"/>
              </a:ext>
            </a:extLst>
          </p:cNvPr>
          <p:cNvSpPr txBox="1"/>
          <p:nvPr/>
        </p:nvSpPr>
        <p:spPr>
          <a:xfrm>
            <a:off x="3097161" y="5948516"/>
            <a:ext cx="7281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Fig14: Click on Code Mappings – Component Interface to check the </a:t>
            </a:r>
            <a:r>
              <a:rPr lang="en-US" dirty="0" err="1"/>
              <a:t>inports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40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9111-B773-FE3E-FB2F-2562C491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3B6B04-3FF5-8154-8E15-27C9EE228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198342"/>
            <a:ext cx="10349208" cy="54847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51252B-499F-542F-949A-F25CDFFCE4FC}"/>
              </a:ext>
            </a:extLst>
          </p:cNvPr>
          <p:cNvSpPr txBox="1"/>
          <p:nvPr/>
        </p:nvSpPr>
        <p:spPr>
          <a:xfrm>
            <a:off x="3903407" y="5860025"/>
            <a:ext cx="433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Fig15: Click on Outports to check the outputs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563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80EE-5497-A18E-7369-18726C21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F13536-E9E4-4760-DED1-8FF804388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8" y="193480"/>
            <a:ext cx="10361341" cy="5499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63DFA8-A2BF-B0D2-4A6E-355A16528E34}"/>
              </a:ext>
            </a:extLst>
          </p:cNvPr>
          <p:cNvSpPr txBox="1"/>
          <p:nvPr/>
        </p:nvSpPr>
        <p:spPr>
          <a:xfrm>
            <a:off x="2949677" y="5879690"/>
            <a:ext cx="594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Fig16: Open AUTOSAR Dictionary to check the </a:t>
            </a:r>
            <a:r>
              <a:rPr lang="en-US" dirty="0" err="1"/>
              <a:t>Reciever</a:t>
            </a:r>
            <a:r>
              <a:rPr lang="en-US" dirty="0"/>
              <a:t> Ports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819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EA9C-E85F-8DB0-BB5D-E8940EEC7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1BF869-73D5-9824-8F11-B4265FE7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4" y="203015"/>
            <a:ext cx="10491021" cy="5551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99CE64-8FF3-C98C-BAF2-4EC6878DCDC6}"/>
              </a:ext>
            </a:extLst>
          </p:cNvPr>
          <p:cNvSpPr txBox="1"/>
          <p:nvPr/>
        </p:nvSpPr>
        <p:spPr>
          <a:xfrm>
            <a:off x="4375355" y="5899355"/>
            <a:ext cx="2901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Fig17: Check the Sender 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401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1D02-4B83-E517-59C8-209813A1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FE8FF6-C100-E344-9A45-BC0A9277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8" y="191989"/>
            <a:ext cx="10353369" cy="5497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D78598-1B89-64A5-D337-5A13C24E9E55}"/>
              </a:ext>
            </a:extLst>
          </p:cNvPr>
          <p:cNvSpPr txBox="1"/>
          <p:nvPr/>
        </p:nvSpPr>
        <p:spPr>
          <a:xfrm>
            <a:off x="3215149" y="5889522"/>
            <a:ext cx="6494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Fig18: Right-Click on the subsystem and navigate to Referenced Model..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833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BC6F-6627-FCD7-3AEE-249D4D6E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A946F0-B3EC-9E13-8991-A34FCE1B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58" y="198342"/>
            <a:ext cx="10182234" cy="5396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D3F26F-24AC-4B83-7E20-D5417FBB4560}"/>
              </a:ext>
            </a:extLst>
          </p:cNvPr>
          <p:cNvSpPr txBox="1"/>
          <p:nvPr/>
        </p:nvSpPr>
        <p:spPr>
          <a:xfrm>
            <a:off x="5338917" y="5692878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Fig19: Initializing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667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47CB-8C42-6974-C7BD-B35F8BA8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761FBE-A03D-0784-FDF4-B1F062CA6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3" y="191989"/>
            <a:ext cx="10229764" cy="5432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3487E4-64DD-19A8-7925-B954F8CCCD52}"/>
              </a:ext>
            </a:extLst>
          </p:cNvPr>
          <p:cNvSpPr txBox="1"/>
          <p:nvPr/>
        </p:nvSpPr>
        <p:spPr>
          <a:xfrm>
            <a:off x="4857135" y="5742039"/>
            <a:ext cx="229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Fig20: Click on Convert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84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9630-D145-C9A6-AC06-CD662D5B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37ADE1-FCFF-2E2B-B53E-7E333BC10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3" y="198343"/>
            <a:ext cx="10176388" cy="5393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9465CB-B5ED-F90F-1296-19DFFEAC50BC}"/>
              </a:ext>
            </a:extLst>
          </p:cNvPr>
          <p:cNvSpPr txBox="1"/>
          <p:nvPr/>
        </p:nvSpPr>
        <p:spPr>
          <a:xfrm>
            <a:off x="4041058" y="5732206"/>
            <a:ext cx="3939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FIg21: Check failed to correct this error….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130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BCB4-18F4-371F-39DF-A66977FB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6B38F-7284-500C-EA6D-445546948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19" y="195167"/>
            <a:ext cx="10085548" cy="5350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A358E-A6F8-D792-3EB9-DAB0EC9A3CE1}"/>
              </a:ext>
            </a:extLst>
          </p:cNvPr>
          <p:cNvSpPr txBox="1"/>
          <p:nvPr/>
        </p:nvSpPr>
        <p:spPr>
          <a:xfrm>
            <a:off x="4001729" y="5722374"/>
            <a:ext cx="4037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Fig22: Select Block Parameters (Subsystem)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1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CB47-5254-B92E-D2BA-67DDFB4C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4FFB70-970B-796D-F04C-1BB4D663B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6" y="162190"/>
            <a:ext cx="10279111" cy="5442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B87487-5FC1-E6B2-09C2-FBE49711BD61}"/>
              </a:ext>
            </a:extLst>
          </p:cNvPr>
          <p:cNvSpPr txBox="1"/>
          <p:nvPr/>
        </p:nvSpPr>
        <p:spPr>
          <a:xfrm>
            <a:off x="4483509" y="5791200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Fig23: A pop-up screen will appear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685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C483F-D754-71D7-4796-DB9288BE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28FF03-FD9D-41A3-BD2D-8CC925CFB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201519"/>
            <a:ext cx="10483391" cy="5550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7DBABA-34F8-5C16-F3EC-5612323B71FD}"/>
              </a:ext>
            </a:extLst>
          </p:cNvPr>
          <p:cNvSpPr txBox="1"/>
          <p:nvPr/>
        </p:nvSpPr>
        <p:spPr>
          <a:xfrm>
            <a:off x="3972232" y="5879690"/>
            <a:ext cx="442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Fig24: Check the Treat as atomic unit checkbox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786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D835-83AC-1D64-220A-67B7A80F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1EEA4F-3756-4763-CA9D-4C2060A64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2" y="204696"/>
            <a:ext cx="10413357" cy="5507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8A5B37-BC73-5C2B-CAB3-7A2127FCAE14}"/>
              </a:ext>
            </a:extLst>
          </p:cNvPr>
          <p:cNvSpPr txBox="1"/>
          <p:nvPr/>
        </p:nvSpPr>
        <p:spPr>
          <a:xfrm>
            <a:off x="4414684" y="5899354"/>
            <a:ext cx="377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Fig25: Again head to Referenced Model..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346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AE2321-DE02-87B9-2AAA-5E9D5B8C3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198343"/>
            <a:ext cx="10423419" cy="5524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3A30A0-561C-8D54-AF1E-19875D919600}"/>
              </a:ext>
            </a:extLst>
          </p:cNvPr>
          <p:cNvSpPr txBox="1"/>
          <p:nvPr/>
        </p:nvSpPr>
        <p:spPr>
          <a:xfrm>
            <a:off x="3755922" y="5928852"/>
            <a:ext cx="4732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Fig26: Click convert and the system passes the 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301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E0AA02-2109-5E3B-5E44-BF80B278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6" y="198343"/>
            <a:ext cx="10294375" cy="5455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FAC51-A6BC-FA85-E9AC-51B461FD0E34}"/>
              </a:ext>
            </a:extLst>
          </p:cNvPr>
          <p:cNvSpPr txBox="1"/>
          <p:nvPr/>
        </p:nvSpPr>
        <p:spPr>
          <a:xfrm>
            <a:off x="4650658" y="5840362"/>
            <a:ext cx="3194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Fig27: Navigate to AUTOSAR tab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780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7D4B-0746-B02C-037C-B64AD122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ABB1C9-93B3-7115-5296-31FE01F65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6" y="198343"/>
            <a:ext cx="10145129" cy="5376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765388-FA56-4E39-587F-8241CBD74E4E}"/>
              </a:ext>
            </a:extLst>
          </p:cNvPr>
          <p:cNvSpPr txBox="1"/>
          <p:nvPr/>
        </p:nvSpPr>
        <p:spPr>
          <a:xfrm>
            <a:off x="4395020" y="5751870"/>
            <a:ext cx="2949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Fig28: Click on Generate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784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82A2-D764-50C6-554C-736E48A7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A26B71-F851-BD3E-608F-8A61D7A65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0" y="201519"/>
            <a:ext cx="10264879" cy="5434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6BF16A-78FD-315C-E53D-DF080A22553B}"/>
              </a:ext>
            </a:extLst>
          </p:cNvPr>
          <p:cNvSpPr txBox="1"/>
          <p:nvPr/>
        </p:nvSpPr>
        <p:spPr>
          <a:xfrm>
            <a:off x="3746090" y="5771536"/>
            <a:ext cx="5488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Fig29: The code is displayed on the right side of the screen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922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379F-967E-633F-13BA-5331E6E01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F4202D-E932-8F23-3EC1-6A805182A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98343"/>
            <a:ext cx="10590394" cy="56125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9B3E5D-E03F-B1CF-C4D2-F7DF1921C2A3}"/>
              </a:ext>
            </a:extLst>
          </p:cNvPr>
          <p:cNvSpPr txBox="1"/>
          <p:nvPr/>
        </p:nvSpPr>
        <p:spPr>
          <a:xfrm>
            <a:off x="4001729" y="5987845"/>
            <a:ext cx="3710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Fig30: The following files are generated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2904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{32E57F4D-1279-4241-A747-8960655D59FF}tf11964407_win32</Template>
  <TotalTime>149</TotalTime>
  <Words>277</Words>
  <Application>Microsoft Office PowerPoint</Application>
  <PresentationFormat>Widescreen</PresentationFormat>
  <Paragraphs>41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Gill Sans Nova Light</vt:lpstr>
      <vt:lpstr>Sagona Book</vt:lpstr>
      <vt:lpstr>Custom</vt:lpstr>
      <vt:lpstr>AUTOSAR CODE-GENERATION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Rudransh Jena</dc:creator>
  <cp:lastModifiedBy>Rudransh Jena</cp:lastModifiedBy>
  <cp:revision>2</cp:revision>
  <dcterms:created xsi:type="dcterms:W3CDTF">2025-09-19T15:19:03Z</dcterms:created>
  <dcterms:modified xsi:type="dcterms:W3CDTF">2025-09-19T17:48:20Z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